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3B2582-487E-498D-AA0D-D76ECF931A0C}">
  <a:tblStyle styleId="{093B2582-487E-498D-AA0D-D76ECF931A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698f39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698f39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0698f39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0698f39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0698f39d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0698f39d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0698f39d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0698f39d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98f39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0698f39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698f39d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0698f39d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698f39d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0698f39d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Explainable Pneumonia Detection on Chest X-Rays with DenseNet121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Computer Vision: Project 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Nayan, Pratyay, Richard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de"/>
              <a:t>Explainable Pneumonia Detection 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4900" y="2047250"/>
            <a:ext cx="5634251" cy="30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13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de" sz="1400">
                <a:solidFill>
                  <a:schemeClr val="dk1"/>
                </a:solidFill>
              </a:rPr>
              <a:t>Our goal was to classify chest X-rays as </a:t>
            </a:r>
            <a:r>
              <a:rPr i="1" lang="de" sz="1400">
                <a:solidFill>
                  <a:schemeClr val="dk1"/>
                </a:solidFill>
              </a:rPr>
              <a:t>Normal</a:t>
            </a:r>
            <a:r>
              <a:rPr lang="de" sz="1400">
                <a:solidFill>
                  <a:schemeClr val="dk1"/>
                </a:solidFill>
              </a:rPr>
              <a:t> or </a:t>
            </a:r>
            <a:r>
              <a:rPr i="1" lang="de" sz="1400">
                <a:solidFill>
                  <a:schemeClr val="dk1"/>
                </a:solidFill>
              </a:rPr>
              <a:t>Pneumonia</a:t>
            </a:r>
            <a:r>
              <a:rPr lang="de" sz="1400">
                <a:solidFill>
                  <a:schemeClr val="dk1"/>
                </a:solidFill>
              </a:rPr>
              <a:t> using a CNN and generate explanations using two XAI methods: Grad-CAM and LIME.</a:t>
            </a:r>
            <a:br>
              <a:rPr lang="de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de" sz="1400">
                <a:solidFill>
                  <a:schemeClr val="dk1"/>
                </a:solidFill>
              </a:rPr>
              <a:t>We fine-tuned a </a:t>
            </a:r>
            <a:r>
              <a:rPr lang="de" sz="1400">
                <a:solidFill>
                  <a:schemeClr val="dk1"/>
                </a:solidFill>
              </a:rPr>
              <a:t>pre trained</a:t>
            </a:r>
            <a:r>
              <a:rPr lang="de" sz="1400">
                <a:solidFill>
                  <a:schemeClr val="dk1"/>
                </a:solidFill>
              </a:rPr>
              <a:t> DenseNet121 model rather than training from scratch because it performs well on medical imaging tasks and is lightweight enough for a 4GB GPU.</a:t>
            </a:r>
            <a:br>
              <a:rPr lang="de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Dataset &amp; Preprocessing Pipeline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-30599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de" sz="3750">
                <a:solidFill>
                  <a:schemeClr val="dk1"/>
                </a:solidFill>
              </a:rPr>
              <a:t>Dataset: Chest X-Ray Pneumonia (Kaggle) with two classes: Normal / Pneumonia.</a:t>
            </a:r>
            <a:br>
              <a:rPr lang="de" sz="3750">
                <a:solidFill>
                  <a:schemeClr val="dk1"/>
                </a:solidFill>
              </a:rPr>
            </a:br>
            <a:endParaRPr sz="3750">
              <a:solidFill>
                <a:schemeClr val="dk1"/>
              </a:solidFill>
            </a:endParaRPr>
          </a:p>
          <a:p>
            <a:pPr indent="-30599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de" sz="3750">
                <a:solidFill>
                  <a:schemeClr val="dk1"/>
                </a:solidFill>
              </a:rPr>
              <a:t>Split original dataset → train / val (80/20) / test.</a:t>
            </a:r>
            <a:br>
              <a:rPr lang="de" sz="3750">
                <a:solidFill>
                  <a:schemeClr val="dk1"/>
                </a:solidFill>
              </a:rPr>
            </a:br>
            <a:endParaRPr sz="3750">
              <a:solidFill>
                <a:schemeClr val="dk1"/>
              </a:solidFill>
            </a:endParaRPr>
          </a:p>
          <a:p>
            <a:pPr indent="-30599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de" sz="3750">
                <a:solidFill>
                  <a:schemeClr val="dk1"/>
                </a:solidFill>
              </a:rPr>
              <a:t>Preprocessing steps:</a:t>
            </a:r>
            <a:br>
              <a:rPr lang="de" sz="3750">
                <a:solidFill>
                  <a:schemeClr val="dk1"/>
                </a:solidFill>
              </a:rPr>
            </a:br>
            <a:endParaRPr sz="3750">
              <a:solidFill>
                <a:schemeClr val="dk1"/>
              </a:solidFill>
            </a:endParaRPr>
          </a:p>
          <a:p>
            <a:pPr indent="-30599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de" sz="3750">
                <a:solidFill>
                  <a:schemeClr val="dk1"/>
                </a:solidFill>
              </a:rPr>
              <a:t>Convert to grayscale</a:t>
            </a:r>
            <a:br>
              <a:rPr lang="de" sz="3750">
                <a:solidFill>
                  <a:schemeClr val="dk1"/>
                </a:solidFill>
              </a:rPr>
            </a:br>
            <a:endParaRPr sz="3750">
              <a:solidFill>
                <a:schemeClr val="dk1"/>
              </a:solidFill>
            </a:endParaRPr>
          </a:p>
          <a:p>
            <a:pPr indent="-30599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de" sz="3750">
                <a:solidFill>
                  <a:schemeClr val="dk1"/>
                </a:solidFill>
              </a:rPr>
              <a:t>Resize 224×224 to match DenseNet</a:t>
            </a:r>
            <a:br>
              <a:rPr lang="de" sz="3750">
                <a:solidFill>
                  <a:schemeClr val="dk1"/>
                </a:solidFill>
              </a:rPr>
            </a:br>
            <a:endParaRPr sz="3750">
              <a:solidFill>
                <a:schemeClr val="dk1"/>
              </a:solidFill>
            </a:endParaRPr>
          </a:p>
          <a:p>
            <a:pPr indent="-30599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de" sz="3750">
                <a:solidFill>
                  <a:schemeClr val="dk1"/>
                </a:solidFill>
              </a:rPr>
              <a:t>Expand grayscale to 3 channels</a:t>
            </a:r>
            <a:br>
              <a:rPr lang="de" sz="3750">
                <a:solidFill>
                  <a:schemeClr val="dk1"/>
                </a:solidFill>
              </a:rPr>
            </a:br>
            <a:endParaRPr sz="3750">
              <a:solidFill>
                <a:schemeClr val="dk1"/>
              </a:solidFill>
            </a:endParaRPr>
          </a:p>
          <a:p>
            <a:pPr indent="-30599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de" sz="3750">
                <a:solidFill>
                  <a:schemeClr val="dk1"/>
                </a:solidFill>
              </a:rPr>
              <a:t>Normalize using dataset mean/std</a:t>
            </a:r>
            <a:br>
              <a:rPr lang="de" sz="3750">
                <a:solidFill>
                  <a:schemeClr val="dk1"/>
                </a:solidFill>
              </a:rPr>
            </a:br>
            <a:endParaRPr sz="3750">
              <a:solidFill>
                <a:schemeClr val="dk1"/>
              </a:solidFill>
            </a:endParaRPr>
          </a:p>
          <a:p>
            <a:pPr indent="-30599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de" sz="3750">
                <a:solidFill>
                  <a:schemeClr val="dk1"/>
                </a:solidFill>
              </a:rPr>
              <a:t>Train augmentations: horizontal flip</a:t>
            </a:r>
            <a:br>
              <a:rPr lang="de" sz="3750">
                <a:solidFill>
                  <a:schemeClr val="dk1"/>
                </a:solidFill>
              </a:rPr>
            </a:br>
            <a:endParaRPr sz="37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7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4433600" y="168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{093B2582-487E-498D-AA0D-D76ECF931A0C}</a:tableStyleId>
              </a:tblPr>
              <a:tblGrid>
                <a:gridCol w="1099675"/>
                <a:gridCol w="1099675"/>
                <a:gridCol w="1099675"/>
                <a:gridCol w="1099675"/>
              </a:tblGrid>
              <a:tr h="64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Split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Normal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Pneumonia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Train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1072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3100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4172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Val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269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775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1044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234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390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624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Model Architecture &amp; Training Setup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315950"/>
            <a:ext cx="39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948" lvl="0" marL="457200" rtl="0" algn="l">
              <a:spcBef>
                <a:spcPts val="0"/>
              </a:spcBef>
              <a:spcAft>
                <a:spcPts val="0"/>
              </a:spcAft>
              <a:buSzPts val="1202"/>
              <a:buChar char="●"/>
            </a:pPr>
            <a:r>
              <a:rPr lang="de" sz="1202">
                <a:solidFill>
                  <a:schemeClr val="dk1"/>
                </a:solidFill>
              </a:rPr>
              <a:t>Pre trained DenseNet121 chosen for: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Good medical image performance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Efficiency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Dense connectivity helps gradient flow</a:t>
            </a:r>
            <a:endParaRPr sz="1202">
              <a:solidFill>
                <a:schemeClr val="dk1"/>
              </a:solidFill>
            </a:endParaRPr>
          </a:p>
          <a:p>
            <a:pPr indent="-3049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●"/>
            </a:pPr>
            <a:r>
              <a:rPr lang="de" sz="1202">
                <a:solidFill>
                  <a:schemeClr val="dk1"/>
                </a:solidFill>
              </a:rPr>
              <a:t>Final classifier replaced with: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BatchNorm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Dropout(0.4)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Linear(2)</a:t>
            </a:r>
            <a:endParaRPr sz="1202">
              <a:solidFill>
                <a:schemeClr val="dk1"/>
              </a:solidFill>
            </a:endParaRPr>
          </a:p>
          <a:p>
            <a:pPr indent="-3049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●"/>
            </a:pPr>
            <a:r>
              <a:rPr lang="de" sz="1202">
                <a:solidFill>
                  <a:schemeClr val="dk1"/>
                </a:solidFill>
              </a:rPr>
              <a:t>Loss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Cross Entropy</a:t>
            </a:r>
            <a:endParaRPr sz="1202">
              <a:solidFill>
                <a:schemeClr val="dk1"/>
              </a:solidFill>
            </a:endParaRPr>
          </a:p>
          <a:p>
            <a:pPr indent="-3049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●"/>
            </a:pPr>
            <a:r>
              <a:rPr lang="de" sz="1202">
                <a:solidFill>
                  <a:schemeClr val="dk1"/>
                </a:solidFill>
              </a:rPr>
              <a:t>Optimizer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Adam</a:t>
            </a:r>
            <a:endParaRPr sz="1202">
              <a:solidFill>
                <a:schemeClr val="dk1"/>
              </a:solidFill>
            </a:endParaRPr>
          </a:p>
          <a:p>
            <a:pPr indent="-304948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■"/>
            </a:pPr>
            <a:r>
              <a:rPr lang="de" sz="1202">
                <a:solidFill>
                  <a:schemeClr val="dk1"/>
                </a:solidFill>
              </a:rPr>
              <a:t>lr = 1e-4</a:t>
            </a:r>
            <a:endParaRPr sz="1202">
              <a:solidFill>
                <a:schemeClr val="dk1"/>
              </a:solidFill>
            </a:endParaRPr>
          </a:p>
          <a:p>
            <a:pPr indent="-304948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■"/>
            </a:pPr>
            <a:r>
              <a:rPr lang="de" sz="1202">
                <a:solidFill>
                  <a:schemeClr val="dk1"/>
                </a:solidFill>
              </a:rPr>
              <a:t>weight_decay = 1e-4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959300" y="1315950"/>
            <a:ext cx="398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948" lvl="0" marL="457200" rtl="0" algn="l">
              <a:spcBef>
                <a:spcPts val="0"/>
              </a:spcBef>
              <a:spcAft>
                <a:spcPts val="0"/>
              </a:spcAft>
              <a:buSzPts val="1202"/>
              <a:buChar char="●"/>
            </a:pPr>
            <a:r>
              <a:rPr lang="de" sz="1202">
                <a:solidFill>
                  <a:schemeClr val="dk1"/>
                </a:solidFill>
              </a:rPr>
              <a:t>Regularization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dropout + weight decay + augmentation</a:t>
            </a:r>
            <a:endParaRPr sz="1202">
              <a:solidFill>
                <a:schemeClr val="dk1"/>
              </a:solidFill>
            </a:endParaRPr>
          </a:p>
          <a:p>
            <a:pPr indent="-3049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●"/>
            </a:pPr>
            <a:r>
              <a:rPr lang="de" sz="1202">
                <a:solidFill>
                  <a:schemeClr val="dk1"/>
                </a:solidFill>
              </a:rPr>
              <a:t>Mixed-precision training (AMP)</a:t>
            </a:r>
            <a:endParaRPr sz="1202">
              <a:solidFill>
                <a:schemeClr val="dk1"/>
              </a:solidFill>
            </a:endParaRPr>
          </a:p>
          <a:p>
            <a:pPr indent="-30494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○"/>
            </a:pPr>
            <a:r>
              <a:rPr lang="de" sz="1202">
                <a:solidFill>
                  <a:schemeClr val="dk1"/>
                </a:solidFill>
              </a:rPr>
              <a:t>for 4GB GPU</a:t>
            </a:r>
            <a:endParaRPr sz="1202">
              <a:solidFill>
                <a:schemeClr val="dk1"/>
              </a:solidFill>
            </a:endParaRPr>
          </a:p>
          <a:p>
            <a:pPr indent="-30494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2"/>
              <a:buChar char="●"/>
            </a:pPr>
            <a:r>
              <a:rPr lang="de" sz="1202">
                <a:solidFill>
                  <a:schemeClr val="dk1"/>
                </a:solidFill>
              </a:rPr>
              <a:t>Early stopping implemented</a:t>
            </a:r>
            <a:endParaRPr sz="120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Model Performance on Test Set</a:t>
            </a:r>
            <a:endParaRPr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=== METRICS SUMMARY ===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Accuracy: 	0.7933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Sensitivity:  1.0000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Specificity:  0.4487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Precision:	0.7514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F1 Score: 	0.8581</a:t>
            </a:r>
            <a:endParaRPr/>
          </a:p>
        </p:txBody>
      </p:sp>
      <p:pic>
        <p:nvPicPr>
          <p:cNvPr id="83" name="Google Shape;83;p17" title="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26" y="1152475"/>
            <a:ext cx="3683650" cy="347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ROC Curve &amp; AUC Score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The ROC curve shows the trade-off between sensitivity (true positive rate) and </a:t>
            </a:r>
            <a:r>
              <a:rPr lang="de" sz="1100">
                <a:solidFill>
                  <a:schemeClr val="dk1"/>
                </a:solidFill>
              </a:rPr>
              <a:t>specificity</a:t>
            </a:r>
            <a:r>
              <a:rPr lang="de" sz="1100">
                <a:solidFill>
                  <a:schemeClr val="dk1"/>
                </a:solidFill>
              </a:rPr>
              <a:t> (1 - false positive rate) across all classification thresholds for our pneumonia classifier.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The curve rises steeply toward the top-left corner, indicating that the model correctly identifies pneumonia cases with high sensitivity while keeping </a:t>
            </a:r>
            <a:r>
              <a:rPr lang="de" sz="1100">
                <a:solidFill>
                  <a:schemeClr val="dk1"/>
                </a:solidFill>
              </a:rPr>
              <a:t>false</a:t>
            </a:r>
            <a:r>
              <a:rPr lang="de" sz="1100">
                <a:solidFill>
                  <a:schemeClr val="dk1"/>
                </a:solidFill>
              </a:rPr>
              <a:t> positives relatively low.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The AUC of 0.928 demonstrates strong discriminatory ability – the model can reliably distinguish between Normal and Pneumonia X-rays far better than random guessing (</a:t>
            </a:r>
            <a:r>
              <a:rPr lang="de" sz="1100">
                <a:solidFill>
                  <a:schemeClr val="dk1"/>
                </a:solidFill>
              </a:rPr>
              <a:t>orange</a:t>
            </a:r>
            <a:r>
              <a:rPr lang="de" sz="1100">
                <a:solidFill>
                  <a:schemeClr val="dk1"/>
                </a:solidFill>
              </a:rPr>
              <a:t> diagonal line).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roc_cur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9075" y="788550"/>
            <a:ext cx="3713399" cy="3780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FP_example_01_v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12" y="1661925"/>
            <a:ext cx="4401091" cy="156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 title="TP_example_01_v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25" y="3226383"/>
            <a:ext cx="4401075" cy="1564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TN_example_01_v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025" y="97475"/>
            <a:ext cx="4401075" cy="15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Explainability Results: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Grad-CAM v. LIME</a:t>
            </a:r>
            <a:endParaRPr/>
          </a:p>
        </p:txBody>
      </p:sp>
      <p:sp>
        <p:nvSpPr>
          <p:cNvPr id="99" name="Google Shape;99;p19"/>
          <p:cNvSpPr txBox="1"/>
          <p:nvPr>
            <p:ph idx="4294967295" type="body"/>
          </p:nvPr>
        </p:nvSpPr>
        <p:spPr>
          <a:xfrm>
            <a:off x="5040375" y="15085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" sz="1100">
                <a:solidFill>
                  <a:schemeClr val="dk1"/>
                </a:solidFill>
              </a:rPr>
              <a:t>Grad-CAM produces a smooth heatmap showing where the model looks.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LIME segments the image into superpixels – contiguous regions of similar intensity and texture – and evaluates their performance by measuring how masking each region affects the model’s prediction.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" sz="1100">
                <a:solidFill>
                  <a:schemeClr val="dk1"/>
                </a:solidFill>
              </a:rPr>
              <a:t>The </a:t>
            </a:r>
            <a:r>
              <a:rPr lang="de" sz="1100">
                <a:solidFill>
                  <a:schemeClr val="dk1"/>
                </a:solidFill>
              </a:rPr>
              <a:t>highlighted</a:t>
            </a:r>
            <a:r>
              <a:rPr lang="de" sz="1100">
                <a:solidFill>
                  <a:schemeClr val="dk1"/>
                </a:solidFill>
              </a:rPr>
              <a:t> superpixel regions (outlined in yellow) represent areas that </a:t>
            </a:r>
            <a:r>
              <a:rPr lang="de" sz="1100">
                <a:solidFill>
                  <a:schemeClr val="dk1"/>
                </a:solidFill>
              </a:rPr>
              <a:t>locally contribute most to the predicted class.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 title="gradcam_color_scal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7463" y="2100231"/>
            <a:ext cx="3665724" cy="10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Critical Analysis of XAI Methods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Grad-CAM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/>
              <a:t>Strengths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Class-discriminative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Smooth, interpretable heatmaps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Low computation cost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/>
              <a:t>Limitations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Coarse localization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Layer-dependent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Does not show what features (texture, shape) were used</a:t>
            </a:r>
            <a:endParaRPr/>
          </a:p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LIME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/>
              <a:t>Strengths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Model-Agnostic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Highlights discrete interpretable regions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/>
              <a:t>Limitations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Unstable (different runs -&gt; different masks)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Sensitive to superpixel segmentation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"/>
              <a:t>May highlight irrelevant edges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