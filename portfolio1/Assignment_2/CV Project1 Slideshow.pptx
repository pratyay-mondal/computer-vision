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Nunito"/>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Nunito-regular.fnt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italic.fntdata"/><Relationship Id="rId14" Type="http://schemas.openxmlformats.org/officeDocument/2006/relationships/font" Target="fonts/Nunito-bold.fntdata"/><Relationship Id="rId16"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25473f9e9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25473f9e9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25473f9e9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25473f9e9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25473f9e9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a25473f9e9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a25473f9e9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a25473f9e9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a25473f9e9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a25473f9e9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a25473f9e9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a25473f9e9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de"/>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de"/>
              <a:t>Object Detection for Wildlife Conservation</a:t>
            </a:r>
            <a:endParaRPr/>
          </a:p>
        </p:txBody>
      </p:sp>
      <p:sp>
        <p:nvSpPr>
          <p:cNvPr id="129" name="Google Shape;129;p13"/>
          <p:cNvSpPr txBox="1"/>
          <p:nvPr>
            <p:ph idx="1" type="subTitle"/>
          </p:nvPr>
        </p:nvSpPr>
        <p:spPr>
          <a:xfrm>
            <a:off x="1858700" y="3413146"/>
            <a:ext cx="5361300" cy="771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de"/>
              <a:t>Pratyay, Nayan, and Richard</a:t>
            </a:r>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6424200" cy="70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Unraveling the Triplet</a:t>
            </a:r>
            <a:endParaRPr/>
          </a:p>
          <a:p>
            <a:pPr indent="0" lvl="0" marL="0" rtl="0" algn="l">
              <a:spcBef>
                <a:spcPts val="0"/>
              </a:spcBef>
              <a:spcAft>
                <a:spcPts val="0"/>
              </a:spcAft>
              <a:buNone/>
            </a:pPr>
            <a:r>
              <a:rPr lang="de"/>
              <a:t>Loss function</a:t>
            </a:r>
            <a:endParaRPr/>
          </a:p>
        </p:txBody>
      </p:sp>
      <p:sp>
        <p:nvSpPr>
          <p:cNvPr id="135" name="Google Shape;135;p14"/>
          <p:cNvSpPr txBox="1"/>
          <p:nvPr>
            <p:ph idx="2" type="body"/>
          </p:nvPr>
        </p:nvSpPr>
        <p:spPr>
          <a:xfrm>
            <a:off x="819150" y="1944300"/>
            <a:ext cx="5859900" cy="2618400"/>
          </a:xfrm>
          <a:prstGeom prst="rect">
            <a:avLst/>
          </a:prstGeom>
        </p:spPr>
        <p:txBody>
          <a:bodyPr anchorCtr="0" anchor="t" bIns="91425" lIns="91425" spcFirstLastPara="1" rIns="91425" wrap="square" tIns="91425">
            <a:normAutofit fontScale="85000" lnSpcReduction="20000"/>
          </a:bodyPr>
          <a:lstStyle/>
          <a:p>
            <a:pPr indent="-298767" lvl="0" marL="457200" rtl="0" algn="l">
              <a:spcBef>
                <a:spcPts val="0"/>
              </a:spcBef>
              <a:spcAft>
                <a:spcPts val="0"/>
              </a:spcAft>
              <a:buSzPct val="100000"/>
              <a:buChar char="●"/>
            </a:pPr>
            <a:r>
              <a:rPr lang="de"/>
              <a:t>Images of the same class should be close together.</a:t>
            </a:r>
            <a:endParaRPr/>
          </a:p>
          <a:p>
            <a:pPr indent="-287972" lvl="1" marL="914400" rtl="0" algn="l">
              <a:spcBef>
                <a:spcPts val="0"/>
              </a:spcBef>
              <a:spcAft>
                <a:spcPts val="0"/>
              </a:spcAft>
              <a:buSzPct val="100000"/>
              <a:buChar char="○"/>
            </a:pPr>
            <a:r>
              <a:rPr lang="de"/>
              <a:t>d(a, p) is small</a:t>
            </a:r>
            <a:endParaRPr/>
          </a:p>
          <a:p>
            <a:pPr indent="-287972" lvl="1" marL="914400" rtl="0" algn="l">
              <a:spcBef>
                <a:spcPts val="0"/>
              </a:spcBef>
              <a:spcAft>
                <a:spcPts val="0"/>
              </a:spcAft>
              <a:buSzPct val="100000"/>
              <a:buChar char="○"/>
            </a:pPr>
            <a:r>
              <a:rPr lang="de"/>
              <a:t>intra-class distance</a:t>
            </a:r>
            <a:endParaRPr/>
          </a:p>
          <a:p>
            <a:pPr indent="-298767" lvl="0" marL="457200" rtl="0" algn="l">
              <a:spcBef>
                <a:spcPts val="0"/>
              </a:spcBef>
              <a:spcAft>
                <a:spcPts val="0"/>
              </a:spcAft>
              <a:buSzPct val="100000"/>
              <a:buChar char="●"/>
            </a:pPr>
            <a:r>
              <a:rPr lang="de"/>
              <a:t>Images of different classes d(a, n) should be far apart.</a:t>
            </a:r>
            <a:endParaRPr/>
          </a:p>
          <a:p>
            <a:pPr indent="-287972" lvl="1" marL="914400" rtl="0" algn="l">
              <a:spcBef>
                <a:spcPts val="0"/>
              </a:spcBef>
              <a:spcAft>
                <a:spcPts val="0"/>
              </a:spcAft>
              <a:buSzPct val="100000"/>
              <a:buChar char="○"/>
            </a:pPr>
            <a:r>
              <a:rPr lang="de"/>
              <a:t>d(a, n) is large</a:t>
            </a:r>
            <a:endParaRPr/>
          </a:p>
          <a:p>
            <a:pPr indent="-287972" lvl="1" marL="914400" rtl="0" algn="l">
              <a:spcBef>
                <a:spcPts val="0"/>
              </a:spcBef>
              <a:spcAft>
                <a:spcPts val="0"/>
              </a:spcAft>
              <a:buSzPct val="100000"/>
              <a:buChar char="○"/>
            </a:pPr>
            <a:r>
              <a:rPr lang="de"/>
              <a:t>inter-class distance</a:t>
            </a:r>
            <a:endParaRPr/>
          </a:p>
          <a:p>
            <a:pPr indent="-298767" lvl="0" marL="457200" rtl="0" algn="l">
              <a:spcBef>
                <a:spcPts val="0"/>
              </a:spcBef>
              <a:spcAft>
                <a:spcPts val="0"/>
              </a:spcAft>
              <a:buSzPct val="100000"/>
              <a:buChar char="●"/>
            </a:pPr>
            <a:r>
              <a:rPr lang="de"/>
              <a:t>If the sum d(a, p) - d(a, n) + m is &lt;= 0</a:t>
            </a:r>
            <a:endParaRPr/>
          </a:p>
          <a:p>
            <a:pPr indent="-287972" lvl="1" marL="914400" rtl="0" algn="l">
              <a:spcBef>
                <a:spcPts val="0"/>
              </a:spcBef>
              <a:spcAft>
                <a:spcPts val="0"/>
              </a:spcAft>
              <a:buSzPct val="100000"/>
              <a:buChar char="○"/>
            </a:pPr>
            <a:r>
              <a:rPr lang="de"/>
              <a:t>d(a, n) &gt;= d(a, p) + m, the distance between a and n is larger than the distance between a and p, because m is greater than 0</a:t>
            </a:r>
            <a:endParaRPr/>
          </a:p>
          <a:p>
            <a:pPr indent="-287972" lvl="1" marL="914400" rtl="0" algn="l">
              <a:spcBef>
                <a:spcPts val="0"/>
              </a:spcBef>
              <a:spcAft>
                <a:spcPts val="0"/>
              </a:spcAft>
              <a:buSzPct val="100000"/>
              <a:buChar char="○"/>
            </a:pPr>
            <a:r>
              <a:rPr lang="de"/>
              <a:t>the loss is 0 in this case</a:t>
            </a:r>
            <a:endParaRPr/>
          </a:p>
          <a:p>
            <a:pPr indent="-287972" lvl="1" marL="914400" rtl="0" algn="l">
              <a:spcBef>
                <a:spcPts val="0"/>
              </a:spcBef>
              <a:spcAft>
                <a:spcPts val="0"/>
              </a:spcAft>
              <a:buSzPct val="100000"/>
              <a:buChar char="○"/>
            </a:pPr>
            <a:r>
              <a:rPr lang="de"/>
              <a:t>if m is too small this will always be the case and cause the training to stop</a:t>
            </a:r>
            <a:endParaRPr/>
          </a:p>
          <a:p>
            <a:pPr indent="-298767" lvl="0" marL="457200" rtl="0" algn="l">
              <a:spcBef>
                <a:spcPts val="0"/>
              </a:spcBef>
              <a:spcAft>
                <a:spcPts val="0"/>
              </a:spcAft>
              <a:buSzPct val="100000"/>
              <a:buChar char="●"/>
            </a:pPr>
            <a:r>
              <a:rPr lang="de"/>
              <a:t>If the sum d(a, p) - d(a, n) + m is &gt; 0</a:t>
            </a:r>
            <a:endParaRPr/>
          </a:p>
          <a:p>
            <a:pPr indent="-287972" lvl="1" marL="914400" rtl="0" algn="l">
              <a:spcBef>
                <a:spcPts val="0"/>
              </a:spcBef>
              <a:spcAft>
                <a:spcPts val="0"/>
              </a:spcAft>
              <a:buSzPct val="100000"/>
              <a:buChar char="○"/>
            </a:pPr>
            <a:r>
              <a:rPr lang="de"/>
              <a:t>d(a, n) &lt; d(a, p) + m, this means the distance between a and n is too close to the distance between a and p</a:t>
            </a:r>
            <a:endParaRPr/>
          </a:p>
          <a:p>
            <a:pPr indent="-287972" lvl="1" marL="914400" rtl="0" algn="l">
              <a:spcBef>
                <a:spcPts val="0"/>
              </a:spcBef>
              <a:spcAft>
                <a:spcPts val="0"/>
              </a:spcAft>
              <a:buSzPct val="84615"/>
              <a:buChar char="○"/>
            </a:pPr>
            <a:r>
              <a:rPr lang="de"/>
              <a:t>the loss in non zero and positive = </a:t>
            </a:r>
            <a:r>
              <a:rPr lang="de" sz="1300"/>
              <a:t>d(a, p) - d(a, n) + m</a:t>
            </a:r>
            <a:endParaRPr sz="1300"/>
          </a:p>
          <a:p>
            <a:pPr indent="-298767" lvl="1" marL="914400" rtl="0" algn="l">
              <a:spcBef>
                <a:spcPts val="0"/>
              </a:spcBef>
              <a:spcAft>
                <a:spcPts val="0"/>
              </a:spcAft>
              <a:buSzPct val="100000"/>
              <a:buChar char="○"/>
            </a:pPr>
            <a:r>
              <a:rPr lang="de" sz="1300"/>
              <a:t>if m is too large it will prevent convergence of the loss function</a:t>
            </a:r>
            <a:endParaRPr sz="1300"/>
          </a:p>
        </p:txBody>
      </p:sp>
      <p:pic>
        <p:nvPicPr>
          <p:cNvPr id="136" name="Google Shape;136;p14"/>
          <p:cNvPicPr preferRelativeResize="0"/>
          <p:nvPr/>
        </p:nvPicPr>
        <p:blipFill>
          <a:blip r:embed="rId3">
            <a:alphaModFix/>
          </a:blip>
          <a:stretch>
            <a:fillRect/>
          </a:stretch>
        </p:blipFill>
        <p:spPr>
          <a:xfrm>
            <a:off x="4655920" y="389320"/>
            <a:ext cx="4052625" cy="1688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5"/>
          <p:cNvSpPr txBox="1"/>
          <p:nvPr>
            <p:ph type="title"/>
          </p:nvPr>
        </p:nvSpPr>
        <p:spPr>
          <a:xfrm>
            <a:off x="819150" y="845600"/>
            <a:ext cx="6424200" cy="70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How </a:t>
            </a:r>
            <a:r>
              <a:rPr lang="de"/>
              <a:t>does</a:t>
            </a:r>
            <a:r>
              <a:rPr lang="de"/>
              <a:t> m affect d(a, n) in the embedding space</a:t>
            </a:r>
            <a:endParaRPr/>
          </a:p>
        </p:txBody>
      </p:sp>
      <p:sp>
        <p:nvSpPr>
          <p:cNvPr id="142" name="Google Shape;142;p15"/>
          <p:cNvSpPr txBox="1"/>
          <p:nvPr>
            <p:ph idx="1" type="subTitle"/>
          </p:nvPr>
        </p:nvSpPr>
        <p:spPr>
          <a:xfrm>
            <a:off x="819150" y="1742800"/>
            <a:ext cx="5859900" cy="393600"/>
          </a:xfrm>
          <a:prstGeom prst="rect">
            <a:avLst/>
          </a:prstGeom>
        </p:spPr>
        <p:txBody>
          <a:bodyPr anchorCtr="0" anchor="t" bIns="91425" lIns="91425" spcFirstLastPara="1" rIns="91425" wrap="square" tIns="91425">
            <a:normAutofit fontScale="55000"/>
          </a:bodyPr>
          <a:lstStyle/>
          <a:p>
            <a:pPr indent="0" lvl="0" marL="0" rtl="0" algn="l">
              <a:spcBef>
                <a:spcPts val="0"/>
              </a:spcBef>
              <a:spcAft>
                <a:spcPts val="0"/>
              </a:spcAft>
              <a:buNone/>
            </a:pPr>
            <a:r>
              <a:rPr lang="de"/>
              <a:t>The embedding space contains all feature vectors (embeddings) produced by the neural network for every image</a:t>
            </a:r>
            <a:endParaRPr/>
          </a:p>
        </p:txBody>
      </p:sp>
      <p:sp>
        <p:nvSpPr>
          <p:cNvPr id="143" name="Google Shape;143;p15"/>
          <p:cNvSpPr txBox="1"/>
          <p:nvPr>
            <p:ph idx="2" type="body"/>
          </p:nvPr>
        </p:nvSpPr>
        <p:spPr>
          <a:xfrm>
            <a:off x="819150" y="2136400"/>
            <a:ext cx="5859900" cy="24261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None/>
            </a:pPr>
            <a:r>
              <a:rPr lang="de"/>
              <a:t>In the equation d(a, n) represents the inter-class distance between feature vectors in the embedding space.</a:t>
            </a:r>
            <a:endParaRPr/>
          </a:p>
          <a:p>
            <a:pPr indent="0" lvl="0" marL="0" rtl="0" algn="l">
              <a:spcBef>
                <a:spcPts val="1200"/>
              </a:spcBef>
              <a:spcAft>
                <a:spcPts val="0"/>
              </a:spcAft>
              <a:buNone/>
            </a:pPr>
            <a:r>
              <a:rPr lang="de"/>
              <a:t>Looking at the condition where the max function produces a positive and non-zero value:</a:t>
            </a:r>
            <a:endParaRPr/>
          </a:p>
          <a:p>
            <a:pPr indent="0" lvl="0" marL="0" rtl="0" algn="l">
              <a:spcBef>
                <a:spcPts val="1200"/>
              </a:spcBef>
              <a:spcAft>
                <a:spcPts val="0"/>
              </a:spcAft>
              <a:buNone/>
            </a:pPr>
            <a:r>
              <a:rPr lang="de"/>
              <a:t>		</a:t>
            </a:r>
            <a:r>
              <a:rPr lang="de" sz="1100"/>
              <a:t>d(a, n) &lt; d(a, p) + m</a:t>
            </a:r>
            <a:endParaRPr sz="1100"/>
          </a:p>
          <a:p>
            <a:pPr indent="0" lvl="0" marL="0" rtl="0" algn="l">
              <a:spcBef>
                <a:spcPts val="1200"/>
              </a:spcBef>
              <a:spcAft>
                <a:spcPts val="0"/>
              </a:spcAft>
              <a:buNone/>
            </a:pPr>
            <a:r>
              <a:rPr lang="de" sz="1100"/>
              <a:t>This means that a larger margin will allow for a larger inter-class distance, and a small margin will force the inter-class distance to be smaller. </a:t>
            </a:r>
            <a:endParaRPr sz="1100"/>
          </a:p>
          <a:p>
            <a:pPr indent="0" lvl="0" marL="0" rtl="0" algn="l">
              <a:spcBef>
                <a:spcPts val="1200"/>
              </a:spcBef>
              <a:spcAft>
                <a:spcPts val="0"/>
              </a:spcAft>
              <a:buNone/>
            </a:pPr>
            <a:r>
              <a:rPr lang="de" sz="1100"/>
              <a:t>For the condition where the loss function becomes 0:</a:t>
            </a:r>
            <a:endParaRPr sz="1100"/>
          </a:p>
          <a:p>
            <a:pPr indent="0" lvl="0" marL="0" rtl="0" algn="l">
              <a:spcBef>
                <a:spcPts val="1200"/>
              </a:spcBef>
              <a:spcAft>
                <a:spcPts val="0"/>
              </a:spcAft>
              <a:buNone/>
            </a:pPr>
            <a:r>
              <a:rPr lang="de" sz="1100"/>
              <a:t>		d(a, n) &gt;= d(a, p) + m</a:t>
            </a:r>
            <a:endParaRPr sz="1100"/>
          </a:p>
          <a:p>
            <a:pPr indent="0" lvl="0" marL="0" rtl="0" algn="l">
              <a:spcBef>
                <a:spcPts val="1200"/>
              </a:spcBef>
              <a:spcAft>
                <a:spcPts val="0"/>
              </a:spcAft>
              <a:buNone/>
            </a:pPr>
            <a:r>
              <a:rPr lang="de" sz="1100"/>
              <a:t>It’s apparent that the same relationships exist.	</a:t>
            </a:r>
            <a:endParaRPr sz="1100"/>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6"/>
          <p:cNvSpPr txBox="1"/>
          <p:nvPr>
            <p:ph type="title"/>
          </p:nvPr>
        </p:nvSpPr>
        <p:spPr>
          <a:xfrm>
            <a:off x="819150" y="845600"/>
            <a:ext cx="6424200" cy="70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The condition for the expected loss becoming 0</a:t>
            </a:r>
            <a:endParaRPr/>
          </a:p>
        </p:txBody>
      </p:sp>
      <p:sp>
        <p:nvSpPr>
          <p:cNvPr id="149" name="Google Shape;149;p16"/>
          <p:cNvSpPr txBox="1"/>
          <p:nvPr>
            <p:ph idx="2" type="body"/>
          </p:nvPr>
        </p:nvSpPr>
        <p:spPr>
          <a:xfrm>
            <a:off x="819150" y="2467050"/>
            <a:ext cx="5859900" cy="20955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de"/>
              <a:t>for L = max(0, d(a, p) - d(a, n) + m) the max function will output 0 when it’s argument is less than or equal to 0:</a:t>
            </a:r>
            <a:endParaRPr/>
          </a:p>
          <a:p>
            <a:pPr indent="0" lvl="0" marL="0" rtl="0" algn="l">
              <a:spcBef>
                <a:spcPts val="1200"/>
              </a:spcBef>
              <a:spcAft>
                <a:spcPts val="0"/>
              </a:spcAft>
              <a:buNone/>
            </a:pPr>
            <a:r>
              <a:rPr lang="de"/>
              <a:t>	d(a, p) - d(a, n) + m &lt;= 0	⇔	d(a, n) &gt;= d(a, p) + m</a:t>
            </a:r>
            <a:endParaRPr/>
          </a:p>
          <a:p>
            <a:pPr indent="0" lvl="0" marL="0" rtl="0" algn="l">
              <a:spcBef>
                <a:spcPts val="1200"/>
              </a:spcBef>
              <a:spcAft>
                <a:spcPts val="0"/>
              </a:spcAft>
              <a:buNone/>
            </a:pPr>
            <a:r>
              <a:rPr lang="de"/>
              <a:t>So for each triplet the loss function is zero when the above inequality is true. For the expected loss to be zero, every triplet in the data distribution must have zero individual loss. This implies:</a:t>
            </a:r>
            <a:endParaRPr/>
          </a:p>
          <a:p>
            <a:pPr indent="0" lvl="0" marL="0" rtl="0" algn="l">
              <a:spcBef>
                <a:spcPts val="1200"/>
              </a:spcBef>
              <a:spcAft>
                <a:spcPts val="0"/>
              </a:spcAft>
              <a:buNone/>
            </a:pPr>
            <a:r>
              <a:rPr lang="de"/>
              <a:t>	E[L] = 0 ⇔ P(d(a, n) &gt;= d(a, p) + m) = 1</a:t>
            </a:r>
            <a:endParaRPr/>
          </a:p>
          <a:p>
            <a:pPr indent="0" lvl="0" marL="0" rtl="0" algn="l">
              <a:spcBef>
                <a:spcPts val="1200"/>
              </a:spcBef>
              <a:spcAft>
                <a:spcPts val="0"/>
              </a:spcAft>
              <a:buNone/>
            </a:pPr>
            <a:r>
              <a:rPr lang="de"/>
              <a:t>and means that the negative sample is always at least a margin m farther away from the anchor than the positive sample is. </a:t>
            </a:r>
            <a:endParaRPr/>
          </a:p>
          <a:p>
            <a:pPr indent="0" lvl="0" marL="0" rtl="0" algn="l">
              <a:spcBef>
                <a:spcPts val="1200"/>
              </a:spcBef>
              <a:spcAft>
                <a:spcPts val="1200"/>
              </a:spcAft>
              <a:buNone/>
            </a:pPr>
            <a:r>
              <a:t/>
            </a:r>
            <a:endParaRPr/>
          </a:p>
        </p:txBody>
      </p:sp>
      <p:sp>
        <p:nvSpPr>
          <p:cNvPr id="150" name="Google Shape;150;p16"/>
          <p:cNvSpPr txBox="1"/>
          <p:nvPr>
            <p:ph idx="1" type="subTitle"/>
          </p:nvPr>
        </p:nvSpPr>
        <p:spPr>
          <a:xfrm>
            <a:off x="819150" y="1742800"/>
            <a:ext cx="5859900" cy="393600"/>
          </a:xfrm>
          <a:prstGeom prst="rect">
            <a:avLst/>
          </a:prstGeom>
        </p:spPr>
        <p:txBody>
          <a:bodyPr anchorCtr="0" anchor="t" bIns="91425" lIns="91425" spcFirstLastPara="1" rIns="91425" wrap="square" tIns="91425">
            <a:normAutofit fontScale="62500"/>
          </a:bodyPr>
          <a:lstStyle/>
          <a:p>
            <a:pPr indent="0" lvl="0" marL="0" rtl="0" algn="l">
              <a:spcBef>
                <a:spcPts val="0"/>
              </a:spcBef>
              <a:spcAft>
                <a:spcPts val="0"/>
              </a:spcAft>
              <a:buNone/>
            </a:pPr>
            <a:r>
              <a:rPr lang="de"/>
              <a:t>Note: For the </a:t>
            </a:r>
            <a:r>
              <a:rPr lang="de"/>
              <a:t>triplet</a:t>
            </a:r>
            <a:r>
              <a:rPr lang="de"/>
              <a:t> loss function the expectation </a:t>
            </a:r>
            <a:r>
              <a:rPr lang="de"/>
              <a:t>operator</a:t>
            </a:r>
            <a:r>
              <a:rPr lang="de"/>
              <a:t> </a:t>
            </a:r>
            <a:r>
              <a:rPr lang="de"/>
              <a:t>interprets</a:t>
            </a:r>
            <a:r>
              <a:rPr lang="de"/>
              <a:t> as the average over all possible triplets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7"/>
          <p:cNvSpPr txBox="1"/>
          <p:nvPr>
            <p:ph type="title"/>
          </p:nvPr>
        </p:nvSpPr>
        <p:spPr>
          <a:xfrm>
            <a:off x="819150" y="845600"/>
            <a:ext cx="6424200" cy="70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Using a trained embedding space for OOD detection</a:t>
            </a:r>
            <a:endParaRPr/>
          </a:p>
        </p:txBody>
      </p:sp>
      <p:sp>
        <p:nvSpPr>
          <p:cNvPr id="156" name="Google Shape;156;p17"/>
          <p:cNvSpPr txBox="1"/>
          <p:nvPr>
            <p:ph idx="1" type="subTitle"/>
          </p:nvPr>
        </p:nvSpPr>
        <p:spPr>
          <a:xfrm>
            <a:off x="819150" y="1670750"/>
            <a:ext cx="5859900" cy="393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de"/>
              <a:t>Task 2.1</a:t>
            </a:r>
            <a:endParaRPr/>
          </a:p>
        </p:txBody>
      </p:sp>
      <p:sp>
        <p:nvSpPr>
          <p:cNvPr id="157" name="Google Shape;157;p17"/>
          <p:cNvSpPr txBox="1"/>
          <p:nvPr>
            <p:ph idx="2" type="body"/>
          </p:nvPr>
        </p:nvSpPr>
        <p:spPr>
          <a:xfrm>
            <a:off x="819150" y="2009050"/>
            <a:ext cx="5859900" cy="25536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de"/>
              <a:t>For each region in the image that may contain an object, the model extracts a feature vector. The deep metric learning model maps each feature vector into clusters in an embedding space. The embeddings of same-class objects will be close together and objects of different classes will be far apart (background vegetation, non-bird objects, etc…)</a:t>
            </a:r>
            <a:endParaRPr/>
          </a:p>
          <a:p>
            <a:pPr indent="0" lvl="0" marL="0" rtl="0" algn="l">
              <a:spcBef>
                <a:spcPts val="1200"/>
              </a:spcBef>
              <a:spcAft>
                <a:spcPts val="0"/>
              </a:spcAft>
              <a:buNone/>
            </a:pPr>
            <a:r>
              <a:rPr lang="de"/>
              <a:t>Given the embeddings from the deep metric learning model we can detect OOD samples by:</a:t>
            </a:r>
            <a:endParaRPr/>
          </a:p>
          <a:p>
            <a:pPr indent="-292576" lvl="0" marL="457200" rtl="0" algn="l">
              <a:spcBef>
                <a:spcPts val="1200"/>
              </a:spcBef>
              <a:spcAft>
                <a:spcPts val="0"/>
              </a:spcAft>
              <a:buSzPct val="100000"/>
              <a:buAutoNum type="arabicPeriod"/>
            </a:pPr>
            <a:r>
              <a:rPr lang="de"/>
              <a:t>Summarizing each cluster’s center using a prototype vector</a:t>
            </a:r>
            <a:endParaRPr/>
          </a:p>
          <a:p>
            <a:pPr indent="-282733" lvl="1" marL="914400" rtl="0" algn="l">
              <a:spcBef>
                <a:spcPts val="0"/>
              </a:spcBef>
              <a:spcAft>
                <a:spcPts val="0"/>
              </a:spcAft>
              <a:buSzPct val="100000"/>
              <a:buAutoNum type="alphaLcPeriod"/>
            </a:pPr>
            <a:r>
              <a:rPr lang="de"/>
              <a:t>mu_c = 1/N_c*sum(z_i) over all i’s that are elements of the class c.</a:t>
            </a:r>
            <a:endParaRPr/>
          </a:p>
          <a:p>
            <a:pPr indent="-282733" lvl="2" marL="1371600" rtl="0" algn="l">
              <a:spcBef>
                <a:spcPts val="0"/>
              </a:spcBef>
              <a:spcAft>
                <a:spcPts val="0"/>
              </a:spcAft>
              <a:buSzPct val="100000"/>
              <a:buAutoNum type="romanLcPeriod"/>
            </a:pPr>
            <a:r>
              <a:rPr lang="de"/>
              <a:t>z_i are embeddings belonging to class c</a:t>
            </a:r>
            <a:endParaRPr/>
          </a:p>
          <a:p>
            <a:pPr indent="-292576" lvl="0" marL="457200" rtl="0" algn="l">
              <a:spcBef>
                <a:spcPts val="0"/>
              </a:spcBef>
              <a:spcAft>
                <a:spcPts val="0"/>
              </a:spcAft>
              <a:buSzPct val="100000"/>
              <a:buAutoNum type="arabicPeriod"/>
            </a:pPr>
            <a:r>
              <a:rPr lang="de"/>
              <a:t>Calculating an OOD score by computing an embeddings distance to all class prototypes, mu_c. Then find the minimum distance between that embedding to any known class cluster.</a:t>
            </a:r>
            <a:endParaRPr/>
          </a:p>
          <a:p>
            <a:pPr indent="-282733" lvl="1" marL="914400" rtl="0" algn="l">
              <a:spcBef>
                <a:spcPts val="0"/>
              </a:spcBef>
              <a:spcAft>
                <a:spcPts val="0"/>
              </a:spcAft>
              <a:buSzPct val="100000"/>
              <a:buAutoNum type="alphaLcPeriod"/>
            </a:pPr>
            <a:r>
              <a:rPr lang="de"/>
              <a:t>higher scores, further distances, would mean the sample is more likely OOD.</a:t>
            </a:r>
            <a:endParaRPr/>
          </a:p>
          <a:p>
            <a:pPr indent="-292576" lvl="0" marL="457200" rtl="0" algn="l">
              <a:spcBef>
                <a:spcPts val="0"/>
              </a:spcBef>
              <a:spcAft>
                <a:spcPts val="0"/>
              </a:spcAft>
              <a:buSzPct val="100000"/>
              <a:buAutoNum type="arabicPeriod"/>
            </a:pPr>
            <a:r>
              <a:rPr lang="de"/>
              <a:t>To decide whether the sample is OOD create a threshold, for example the </a:t>
            </a:r>
            <a:r>
              <a:rPr lang="de"/>
              <a:t>farthest</a:t>
            </a:r>
            <a:r>
              <a:rPr lang="de"/>
              <a:t> known in-class sample to mu_c and add 10% of that value and use that as a threshold. Any distances above that can be considered OOD.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8"/>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OOD in the embedding space</a:t>
            </a:r>
            <a:endParaRPr/>
          </a:p>
        </p:txBody>
      </p:sp>
      <p:sp>
        <p:nvSpPr>
          <p:cNvPr id="163" name="Google Shape;163;p18"/>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de"/>
              <a:t>Task 2.2</a:t>
            </a:r>
            <a:endParaRPr/>
          </a:p>
        </p:txBody>
      </p:sp>
      <p:sp>
        <p:nvSpPr>
          <p:cNvPr id="164" name="Google Shape;164;p18"/>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de"/>
              <a:t>Each known class forms a tight cluster of embeddings around a prototype, mu_c, in the embedding space</a:t>
            </a:r>
            <a:endParaRPr/>
          </a:p>
          <a:p>
            <a:pPr indent="-311150" lvl="0" marL="457200" rtl="0" algn="l">
              <a:spcBef>
                <a:spcPts val="0"/>
              </a:spcBef>
              <a:spcAft>
                <a:spcPts val="0"/>
              </a:spcAft>
              <a:buSzPts val="1300"/>
              <a:buChar char="●"/>
            </a:pPr>
            <a:r>
              <a:rPr lang="de"/>
              <a:t>Any object detected in an image is mapped to a point z in this space</a:t>
            </a:r>
            <a:endParaRPr/>
          </a:p>
          <a:p>
            <a:pPr indent="-311150" lvl="0" marL="457200" rtl="0" algn="l">
              <a:spcBef>
                <a:spcPts val="0"/>
              </a:spcBef>
              <a:spcAft>
                <a:spcPts val="0"/>
              </a:spcAft>
              <a:buSzPts val="1300"/>
              <a:buChar char="●"/>
            </a:pPr>
            <a:r>
              <a:rPr lang="de"/>
              <a:t>If z falls inside one of the clusters it is likely a known species, in-distribution sample</a:t>
            </a:r>
            <a:endParaRPr/>
          </a:p>
          <a:p>
            <a:pPr indent="-311150" lvl="0" marL="457200" rtl="0" algn="l">
              <a:spcBef>
                <a:spcPts val="0"/>
              </a:spcBef>
              <a:spcAft>
                <a:spcPts val="0"/>
              </a:spcAft>
              <a:buSzPts val="1300"/>
              <a:buChar char="●"/>
            </a:pPr>
            <a:r>
              <a:rPr lang="de"/>
              <a:t>if z falls outside one of the clusters is likely an out of distribution sample</a:t>
            </a:r>
            <a:endParaRPr/>
          </a:p>
          <a:p>
            <a:pPr indent="0" lvl="0" marL="0" rtl="0" algn="l">
              <a:spcBef>
                <a:spcPts val="1200"/>
              </a:spcBef>
              <a:spcAft>
                <a:spcPts val="1200"/>
              </a:spcAft>
              <a:buNone/>
            </a:pPr>
            <a:r>
              <a:rPr lang="de"/>
              <a:t>OOD samples end up farther from all class cluster centers than legitimate samples.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OOD in the embedding space</a:t>
            </a:r>
            <a:endParaRPr/>
          </a:p>
        </p:txBody>
      </p:sp>
      <p:sp>
        <p:nvSpPr>
          <p:cNvPr id="170" name="Google Shape;170;p19"/>
          <p:cNvSpPr txBox="1"/>
          <p:nvPr>
            <p:ph idx="1" type="body"/>
          </p:nvPr>
        </p:nvSpPr>
        <p:spPr>
          <a:xfrm>
            <a:off x="778900" y="1990725"/>
            <a:ext cx="7505700" cy="24480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de"/>
              <a:t>Assumptions</a:t>
            </a:r>
            <a:endParaRPr/>
          </a:p>
          <a:p>
            <a:pPr indent="-286385" lvl="0" marL="457200" rtl="0" algn="l">
              <a:spcBef>
                <a:spcPts val="1200"/>
              </a:spcBef>
              <a:spcAft>
                <a:spcPts val="0"/>
              </a:spcAft>
              <a:buSzPct val="100000"/>
              <a:buChar char="●"/>
            </a:pPr>
            <a:r>
              <a:rPr lang="de"/>
              <a:t>each class c forms a compact cluster around its prototype mu_c</a:t>
            </a:r>
            <a:endParaRPr/>
          </a:p>
          <a:p>
            <a:pPr indent="-286385" lvl="0" marL="457200" rtl="0" algn="l">
              <a:spcBef>
                <a:spcPts val="0"/>
              </a:spcBef>
              <a:spcAft>
                <a:spcPts val="0"/>
              </a:spcAft>
              <a:buSzPct val="100000"/>
              <a:buChar char="●"/>
            </a:pPr>
            <a:r>
              <a:rPr lang="de"/>
              <a:t>clusters are disjoint (well </a:t>
            </a:r>
            <a:r>
              <a:rPr lang="de"/>
              <a:t>separated</a:t>
            </a:r>
            <a:r>
              <a:rPr lang="de"/>
              <a:t>)</a:t>
            </a:r>
            <a:endParaRPr/>
          </a:p>
          <a:p>
            <a:pPr indent="-286385" lvl="0" marL="457200" rtl="0" algn="l">
              <a:spcBef>
                <a:spcPts val="0"/>
              </a:spcBef>
              <a:spcAft>
                <a:spcPts val="0"/>
              </a:spcAft>
              <a:buSzPct val="100000"/>
              <a:buChar char="●"/>
            </a:pPr>
            <a:r>
              <a:rPr lang="de"/>
              <a:t>Distances are euclidian</a:t>
            </a:r>
            <a:endParaRPr/>
          </a:p>
          <a:p>
            <a:pPr indent="0" lvl="0" marL="0" rtl="0" algn="l">
              <a:spcBef>
                <a:spcPts val="1200"/>
              </a:spcBef>
              <a:spcAft>
                <a:spcPts val="0"/>
              </a:spcAft>
              <a:buNone/>
            </a:pPr>
            <a:r>
              <a:rPr lang="de"/>
              <a:t>Definitions</a:t>
            </a:r>
            <a:endParaRPr/>
          </a:p>
          <a:p>
            <a:pPr indent="-286385" lvl="0" marL="457200" rtl="0" algn="l">
              <a:spcBef>
                <a:spcPts val="1200"/>
              </a:spcBef>
              <a:spcAft>
                <a:spcPts val="0"/>
              </a:spcAft>
              <a:buSzPct val="118181"/>
              <a:buChar char="●"/>
            </a:pPr>
            <a:r>
              <a:rPr lang="de"/>
              <a:t>Prototype: </a:t>
            </a:r>
            <a:r>
              <a:rPr lang="de" sz="1100"/>
              <a:t>mu_c = 1/N_c*sum(z_i) over all i’s that are elements of the class c.</a:t>
            </a:r>
            <a:endParaRPr sz="1100"/>
          </a:p>
          <a:p>
            <a:pPr indent="-277495" lvl="0" marL="457200" rtl="0" algn="l">
              <a:spcBef>
                <a:spcPts val="0"/>
              </a:spcBef>
              <a:spcAft>
                <a:spcPts val="0"/>
              </a:spcAft>
              <a:buSzPct val="100000"/>
              <a:buChar char="●"/>
            </a:pPr>
            <a:r>
              <a:rPr lang="de" sz="1100"/>
              <a:t>Class radius: r_c = max||z_i - mu_c|| over all i’s that are elements of the class c.</a:t>
            </a:r>
            <a:endParaRPr sz="1100"/>
          </a:p>
          <a:p>
            <a:pPr indent="-277495" lvl="0" marL="457200" rtl="0" algn="l">
              <a:spcBef>
                <a:spcPts val="0"/>
              </a:spcBef>
              <a:spcAft>
                <a:spcPts val="0"/>
              </a:spcAft>
              <a:buSzPct val="100000"/>
              <a:buChar char="●"/>
            </a:pPr>
            <a:r>
              <a:rPr lang="de" sz="1100"/>
              <a:t>Max in-class radius: r_max = max_c(r_c)</a:t>
            </a:r>
            <a:endParaRPr sz="1100"/>
          </a:p>
          <a:p>
            <a:pPr indent="-277495" lvl="0" marL="457200" rtl="0" algn="l">
              <a:spcBef>
                <a:spcPts val="0"/>
              </a:spcBef>
              <a:spcAft>
                <a:spcPts val="0"/>
              </a:spcAft>
              <a:buSzPct val="100000"/>
              <a:buChar char="●"/>
            </a:pPr>
            <a:r>
              <a:rPr lang="de" sz="1100"/>
              <a:t>Nearest-prototype distance for test object z: D_min(z) = min_c||z - mu_c||</a:t>
            </a:r>
            <a:endParaRPr sz="1100"/>
          </a:p>
          <a:p>
            <a:pPr indent="0" lvl="0" marL="0" rtl="0" algn="l">
              <a:spcBef>
                <a:spcPts val="1200"/>
              </a:spcBef>
              <a:spcAft>
                <a:spcPts val="0"/>
              </a:spcAft>
              <a:buNone/>
            </a:pPr>
            <a:r>
              <a:rPr lang="de" sz="1100"/>
              <a:t>Key inequalities</a:t>
            </a:r>
            <a:endParaRPr sz="1100"/>
          </a:p>
          <a:p>
            <a:pPr indent="-277495" lvl="0" marL="457200" rtl="0" algn="l">
              <a:spcBef>
                <a:spcPts val="1200"/>
              </a:spcBef>
              <a:spcAft>
                <a:spcPts val="0"/>
              </a:spcAft>
              <a:buSzPct val="100000"/>
              <a:buChar char="●"/>
            </a:pPr>
            <a:r>
              <a:rPr lang="de" sz="1100"/>
              <a:t>In-Distribution: D_min(z_ID) &lt;= r_max</a:t>
            </a:r>
            <a:endParaRPr sz="1100"/>
          </a:p>
          <a:p>
            <a:pPr indent="-277495" lvl="0" marL="457200" rtl="0" algn="l">
              <a:spcBef>
                <a:spcPts val="0"/>
              </a:spcBef>
              <a:spcAft>
                <a:spcPts val="0"/>
              </a:spcAft>
              <a:buSzPct val="100000"/>
              <a:buChar char="●"/>
            </a:pPr>
            <a:r>
              <a:rPr lang="de" sz="1100"/>
              <a:t>Out-of-Distribution: D_min(z_OOD) &gt; r_max</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